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8" autoAdjust="0"/>
    <p:restoredTop sz="94660"/>
  </p:normalViewPr>
  <p:slideViewPr>
    <p:cSldViewPr snapToGrid="0">
      <p:cViewPr varScale="1">
        <p:scale>
          <a:sx n="74" d="100"/>
          <a:sy n="74" d="100"/>
        </p:scale>
        <p:origin x="5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87F2-BC8E-4CFE-B1C2-03A091DD273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8511A-19F9-45D3-A273-EC71442A41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988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87F2-BC8E-4CFE-B1C2-03A091DD273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8511A-19F9-45D3-A273-EC71442A41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5584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87F2-BC8E-4CFE-B1C2-03A091DD273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8511A-19F9-45D3-A273-EC71442A41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698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87F2-BC8E-4CFE-B1C2-03A091DD273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8511A-19F9-45D3-A273-EC71442A41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569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87F2-BC8E-4CFE-B1C2-03A091DD273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8511A-19F9-45D3-A273-EC71442A41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011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87F2-BC8E-4CFE-B1C2-03A091DD273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8511A-19F9-45D3-A273-EC71442A41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587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87F2-BC8E-4CFE-B1C2-03A091DD273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8511A-19F9-45D3-A273-EC71442A41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447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87F2-BC8E-4CFE-B1C2-03A091DD273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8511A-19F9-45D3-A273-EC71442A41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291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87F2-BC8E-4CFE-B1C2-03A091DD273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8511A-19F9-45D3-A273-EC71442A41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54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87F2-BC8E-4CFE-B1C2-03A091DD273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8511A-19F9-45D3-A273-EC71442A41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215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87F2-BC8E-4CFE-B1C2-03A091DD273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8511A-19F9-45D3-A273-EC71442A4109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2897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87F2-BC8E-4CFE-B1C2-03A091DD273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8511A-19F9-45D3-A273-EC71442A41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56082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87F2-BC8E-4CFE-B1C2-03A091DD273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8511A-19F9-45D3-A273-EC71442A4109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43546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87F2-BC8E-4CFE-B1C2-03A091DD273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8511A-19F9-45D3-A273-EC71442A41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31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87F2-BC8E-4CFE-B1C2-03A091DD273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8511A-19F9-45D3-A273-EC71442A41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963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87F2-BC8E-4CFE-B1C2-03A091DD273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8511A-19F9-45D3-A273-EC71442A41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6167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8E87F2-BC8E-4CFE-B1C2-03A091DD2739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B88511A-19F9-45D3-A273-EC71442A41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304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  <p:sldLayoutId id="2147483825" r:id="rId15"/>
    <p:sldLayoutId id="214748382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BCE56-0661-FD02-0ED6-C6CF186E9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23144" y="141667"/>
            <a:ext cx="12305038" cy="2421229"/>
          </a:xfrm>
        </p:spPr>
        <p:txBody>
          <a:bodyPr/>
          <a:lstStyle/>
          <a:p>
            <a:pPr algn="ctr"/>
            <a:r>
              <a:rPr lang="en-US" sz="4400" b="1" dirty="0"/>
              <a:t>Cricket League Score Prediction</a:t>
            </a:r>
            <a:br>
              <a:rPr lang="en-US" sz="4400" b="1" dirty="0"/>
            </a:br>
            <a:br>
              <a:rPr lang="en-US" sz="4800" dirty="0"/>
            </a:br>
            <a:r>
              <a:rPr lang="en-US" sz="4400" b="1" dirty="0"/>
              <a:t>Final Project – Group 10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901778-8098-ECD5-DA68-64969DBE21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3428" y="2726003"/>
            <a:ext cx="7766936" cy="1096899"/>
          </a:xfrm>
        </p:spPr>
        <p:txBody>
          <a:bodyPr>
            <a:noAutofit/>
          </a:bodyPr>
          <a:lstStyle/>
          <a:p>
            <a:pPr algn="l"/>
            <a:r>
              <a:rPr lang="en-IN" sz="24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Team Members:</a:t>
            </a:r>
            <a:endParaRPr lang="en-IN" sz="2400" u="sng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Karunakar Nuvvula</a:t>
            </a:r>
          </a:p>
          <a:p>
            <a:pPr algn="l"/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Venkata Tarun Kumar </a:t>
            </a:r>
            <a:r>
              <a:rPr lang="en-IN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Ambavarapu</a:t>
            </a:r>
            <a:endParaRPr lang="en-IN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Deepak </a:t>
            </a:r>
            <a:r>
              <a:rPr lang="en-IN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Athota</a:t>
            </a:r>
            <a:endParaRPr lang="en-IN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Ruksana Shaik</a:t>
            </a:r>
          </a:p>
          <a:p>
            <a:pPr algn="l"/>
            <a:endParaRPr lang="en-IN" sz="2400" dirty="0"/>
          </a:p>
          <a:p>
            <a:pPr algn="l"/>
            <a:r>
              <a:rPr lang="en-IN" sz="24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Course: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CS 667 – Machine Learning (Fall 2025)</a:t>
            </a:r>
            <a:b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IN" sz="24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Instructor: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Dr. Qing Tian, Ph.D.</a:t>
            </a:r>
            <a:b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IN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5064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B39E8-217D-2024-B778-2A6B91380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1CAB1-81E2-ECC5-52B2-111A2E7CE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45434"/>
            <a:ext cx="8596668" cy="3880773"/>
          </a:xfrm>
        </p:spPr>
        <p:txBody>
          <a:bodyPr>
            <a:normAutofit/>
          </a:bodyPr>
          <a:lstStyle/>
          <a:p>
            <a:r>
              <a:rPr lang="en-US" dirty="0"/>
              <a:t>Cricket is highly dynamic → scores change rapidly ball-by-ball</a:t>
            </a:r>
          </a:p>
          <a:p>
            <a:r>
              <a:rPr lang="en-US" dirty="0"/>
              <a:t>Broadcasting, fantasy leagues &amp; analysts benefit from real-time score predictions</a:t>
            </a:r>
          </a:p>
          <a:p>
            <a:r>
              <a:rPr lang="en-US" dirty="0"/>
              <a:t>Traditional regression fails to capture nonlinear, context-heavy, temporal patterns</a:t>
            </a:r>
          </a:p>
          <a:p>
            <a:r>
              <a:rPr lang="en-US" dirty="0"/>
              <a:t>Deep learning enables modeling complex relationships: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/>
              <a:t>Venue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/>
              <a:t>Batting/Bowling team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/>
              <a:t>Player identities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/>
              <a:t>Match progress (runs, wickets, overs)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536779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C193C-1A12-3950-ABF2-3BA170ACE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307AF-DEA4-4579-A3BB-38540E7A5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>
            <a:noAutofit/>
          </a:bodyPr>
          <a:lstStyle/>
          <a:p>
            <a:r>
              <a:rPr lang="en-US" dirty="0"/>
              <a:t>Predict the final score of an IPL innings using ball-by-ball contextual data.</a:t>
            </a:r>
          </a:p>
          <a:p>
            <a:r>
              <a:rPr lang="en-US" b="1" u="sng" dirty="0"/>
              <a:t>Input Features: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Venue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Batting team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Bowling team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Batsman &amp; Bowler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Runs, Wickets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Overs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Striker indicator</a:t>
            </a:r>
          </a:p>
          <a:p>
            <a:r>
              <a:rPr lang="en-US" b="1" u="sng" dirty="0"/>
              <a:t>Output: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Predicted final score of the innings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824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AC628-F611-1264-418E-B5B162705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86427"/>
            <a:ext cx="8596668" cy="1320800"/>
          </a:xfrm>
        </p:spPr>
        <p:txBody>
          <a:bodyPr/>
          <a:lstStyle/>
          <a:p>
            <a:r>
              <a:rPr lang="en-IN" dirty="0"/>
              <a:t>Related Work Highlights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A70EB-BCCF-F33D-9858-970C6806B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38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u="sng" dirty="0"/>
              <a:t>Machine Learning in Cricket Analytics:</a:t>
            </a:r>
            <a:endParaRPr lang="en-IN" u="sng" dirty="0"/>
          </a:p>
          <a:p>
            <a:r>
              <a:rPr lang="en-IN" dirty="0"/>
              <a:t>Bayesian classifiers (Kaluarachchi &amp; Aparna, 2010)</a:t>
            </a:r>
          </a:p>
          <a:p>
            <a:r>
              <a:rPr lang="en-IN" dirty="0"/>
              <a:t>Logistic Regression for ODI prediction (</a:t>
            </a:r>
            <a:r>
              <a:rPr lang="en-IN" dirty="0" err="1"/>
              <a:t>Bandulasiri</a:t>
            </a:r>
            <a:r>
              <a:rPr lang="en-IN" dirty="0"/>
              <a:t>, 2016)</a:t>
            </a:r>
          </a:p>
          <a:p>
            <a:r>
              <a:rPr lang="en-IN" dirty="0"/>
              <a:t>Random Forest &amp; Gradient Boosting outperform classical models (Bunker &amp; </a:t>
            </a:r>
            <a:r>
              <a:rPr lang="en-IN" dirty="0" err="1"/>
              <a:t>Thabtah</a:t>
            </a:r>
            <a:r>
              <a:rPr lang="en-IN" dirty="0"/>
              <a:t>, 2019)</a:t>
            </a:r>
          </a:p>
          <a:p>
            <a:pPr marL="0" indent="0">
              <a:buNone/>
            </a:pPr>
            <a:r>
              <a:rPr lang="en-IN" b="1" u="sng" dirty="0"/>
              <a:t>Deep Learning:</a:t>
            </a:r>
            <a:endParaRPr lang="en-IN" u="sng" dirty="0"/>
          </a:p>
          <a:p>
            <a:r>
              <a:rPr lang="en-IN" dirty="0"/>
              <a:t>LSTM models for sequence-based performance prediction (Jayaraman et al., 2020)</a:t>
            </a:r>
          </a:p>
          <a:p>
            <a:r>
              <a:rPr lang="en-IN" dirty="0"/>
              <a:t>Video-based CNN/Transformer models for biomechanics (Pandey &amp; Raj, 2021; Singh &amp; Malhotra, 2022)</a:t>
            </a:r>
          </a:p>
          <a:p>
            <a:pPr marL="0" indent="0">
              <a:buNone/>
            </a:pPr>
            <a:r>
              <a:rPr lang="en-IN" b="1" u="sng" dirty="0"/>
              <a:t>Conclusion:</a:t>
            </a:r>
          </a:p>
          <a:p>
            <a:r>
              <a:rPr lang="en-IN" dirty="0"/>
              <a:t>Deep learning → best fit for cricket’s temporal and contextual complexity.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5642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5D635-A2DE-C223-C4F3-30BFB3BDD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1C175-E70C-86C2-A26E-F2232A9B7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93919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IPL Ball-by-Ball Dataset (2008–2017)</a:t>
            </a:r>
            <a:br>
              <a:rPr lang="en-US" b="1" dirty="0"/>
            </a:br>
            <a:r>
              <a:rPr lang="en-US" dirty="0"/>
              <a:t>Each row = one ball event.</a:t>
            </a:r>
          </a:p>
          <a:p>
            <a:pPr marL="0" indent="0">
              <a:buNone/>
            </a:pPr>
            <a:r>
              <a:rPr lang="en-US" b="1" u="sng" dirty="0"/>
              <a:t>Contains:</a:t>
            </a:r>
            <a:endParaRPr lang="en-US" u="sng" dirty="0"/>
          </a:p>
          <a:p>
            <a:r>
              <a:rPr lang="en-US" dirty="0"/>
              <a:t>Venue, </a:t>
            </a:r>
            <a:r>
              <a:rPr lang="en-US" dirty="0" err="1"/>
              <a:t>bat_team</a:t>
            </a:r>
            <a:r>
              <a:rPr lang="en-US" dirty="0"/>
              <a:t>, </a:t>
            </a:r>
            <a:r>
              <a:rPr lang="en-US" dirty="0" err="1"/>
              <a:t>bowl_team</a:t>
            </a:r>
            <a:endParaRPr lang="en-US" dirty="0"/>
          </a:p>
          <a:p>
            <a:r>
              <a:rPr lang="en-US" dirty="0"/>
              <a:t>Batsman, bowler</a:t>
            </a:r>
          </a:p>
          <a:p>
            <a:r>
              <a:rPr lang="en-US" dirty="0"/>
              <a:t>Runs, wickets</a:t>
            </a:r>
          </a:p>
          <a:p>
            <a:r>
              <a:rPr lang="en-US" dirty="0"/>
              <a:t>Overs</a:t>
            </a:r>
          </a:p>
          <a:p>
            <a:r>
              <a:rPr lang="en-US" dirty="0"/>
              <a:t>Last 5 overs stats</a:t>
            </a:r>
          </a:p>
          <a:p>
            <a:r>
              <a:rPr lang="en-US" dirty="0"/>
              <a:t>Final total score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8217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E1808-9175-DCC2-B5BB-A0D5687A0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050551"/>
            <a:ext cx="8596667" cy="56673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TABLE 1: Basic Dataset Statistics</a:t>
            </a:r>
            <a:br>
              <a:rPr lang="en-IN" dirty="0"/>
            </a:b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E44615-1142-0325-270A-FDEF561E5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488501"/>
            <a:ext cx="9263473" cy="46933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98860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911A3-8070-FC11-127B-7A0C5B4C0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9DFFE-13D5-834E-5020-9E445715E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>
            <a:noAutofit/>
          </a:bodyPr>
          <a:lstStyle/>
          <a:p>
            <a:r>
              <a:rPr lang="en-US" dirty="0"/>
              <a:t>Removed identifiers: </a:t>
            </a:r>
            <a:r>
              <a:rPr lang="en-US" b="1" dirty="0"/>
              <a:t>mid, date</a:t>
            </a:r>
          </a:p>
          <a:p>
            <a:r>
              <a:rPr lang="en-US" dirty="0"/>
              <a:t>Applied </a:t>
            </a:r>
            <a:r>
              <a:rPr lang="en-US" b="1" dirty="0"/>
              <a:t>Label Encoding </a:t>
            </a:r>
            <a:r>
              <a:rPr lang="en-US" dirty="0"/>
              <a:t>to: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 err="1"/>
              <a:t>bat_team</a:t>
            </a:r>
            <a:endParaRPr lang="en-US" sz="18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 err="1"/>
              <a:t>bowl_team</a:t>
            </a:r>
            <a:endParaRPr lang="en-US" sz="18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venue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batsman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bowler</a:t>
            </a:r>
          </a:p>
          <a:p>
            <a:r>
              <a:rPr lang="en-US" dirty="0"/>
              <a:t>Removed correlated features: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runs_last_5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wickets_last_5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 err="1"/>
              <a:t>non_striker</a:t>
            </a:r>
            <a:endParaRPr lang="en-US" sz="1800" dirty="0"/>
          </a:p>
          <a:p>
            <a:r>
              <a:rPr lang="en-US" dirty="0"/>
              <a:t>Applied </a:t>
            </a:r>
            <a:r>
              <a:rPr lang="en-US" b="1" dirty="0"/>
              <a:t>Min-Max Scaling </a:t>
            </a:r>
            <a:r>
              <a:rPr lang="en-US" dirty="0"/>
              <a:t>to all numeric features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9332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5F1DB-1F02-B3F8-F696-BEF641CAB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2E100-83B4-36DD-83C8-F3F4E8E49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11459"/>
            <a:ext cx="8596668" cy="3880773"/>
          </a:xfrm>
        </p:spPr>
        <p:txBody>
          <a:bodyPr/>
          <a:lstStyle/>
          <a:p>
            <a:r>
              <a:rPr lang="en-US" b="1" dirty="0"/>
              <a:t>FIGURE 1: Number of Matches per each Venue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5F3F8E-C043-A9AF-634C-31A5FA394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177722"/>
            <a:ext cx="10214443" cy="40706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22512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6E0E9-9AE8-FA89-8C22-F3FD69F47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939" y="962854"/>
            <a:ext cx="8596668" cy="3880773"/>
          </a:xfrm>
        </p:spPr>
        <p:txBody>
          <a:bodyPr/>
          <a:lstStyle/>
          <a:p>
            <a:r>
              <a:rPr lang="en-US" b="1" dirty="0"/>
              <a:t>FIGURE 2: Top 10 Batsmen by total runs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650FCA-25B6-F93C-5D75-C4BCFC1D2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39" y="1441580"/>
            <a:ext cx="9308926" cy="468876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65579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431DE-C2B5-854F-8CB8-B4D15EEE5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786" y="975732"/>
            <a:ext cx="8596668" cy="3880773"/>
          </a:xfrm>
        </p:spPr>
        <p:txBody>
          <a:bodyPr/>
          <a:lstStyle/>
          <a:p>
            <a:r>
              <a:rPr lang="en-US" b="1" dirty="0"/>
              <a:t>FIGURE 3: Top 10 Bowlers by the total wickets taken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5FCE16-112A-3667-DB47-2E2029FE6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86" y="1579386"/>
            <a:ext cx="9512326" cy="480853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68884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C5F75-16D5-C6F4-3B9D-0841723BA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00152-328E-CEA1-A895-FC4D9E60B7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593920"/>
            <a:ext cx="5787860" cy="3880772"/>
          </a:xfrm>
        </p:spPr>
        <p:txBody>
          <a:bodyPr/>
          <a:lstStyle/>
          <a:p>
            <a:r>
              <a:rPr lang="en-US" b="1" dirty="0"/>
              <a:t>FIGURE 4: Correlation Heatmap of Features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33239C-B0B9-8A46-09DC-4CD8D3BE7E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43775" y="2138711"/>
            <a:ext cx="2946446" cy="3448242"/>
          </a:xfrm>
        </p:spPr>
        <p:txBody>
          <a:bodyPr/>
          <a:lstStyle/>
          <a:p>
            <a:pPr marL="0" indent="0">
              <a:buNone/>
            </a:pPr>
            <a:r>
              <a:rPr lang="en-US" b="1" u="sng" dirty="0"/>
              <a:t>Key observations:</a:t>
            </a:r>
          </a:p>
          <a:p>
            <a:r>
              <a:rPr lang="en-US" dirty="0"/>
              <a:t>Strong correlation among: runs, overs, wickets, last_5 stats</a:t>
            </a:r>
          </a:p>
          <a:p>
            <a:r>
              <a:rPr lang="en-US" dirty="0"/>
              <a:t>Removed redundant features to reduce multicollinearity</a:t>
            </a:r>
          </a:p>
          <a:p>
            <a:r>
              <a:rPr lang="en-US" dirty="0"/>
              <a:t>Final feature vector size: </a:t>
            </a:r>
            <a:r>
              <a:rPr lang="en-US" b="1" dirty="0"/>
              <a:t>9 inputs</a:t>
            </a: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24285E-FF5A-812B-03CC-1D2ED373F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05" y="2138711"/>
            <a:ext cx="6897370" cy="41096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94123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00AAF-ACCC-2919-B558-F30B0FEC3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Deep Neural Network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38A6A-F4BA-E4B4-0FB1-017E08FFFA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488614"/>
            <a:ext cx="4345427" cy="38807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u="sng" dirty="0"/>
              <a:t>Model Structure:</a:t>
            </a:r>
          </a:p>
          <a:p>
            <a:r>
              <a:rPr lang="en-IN" b="1" dirty="0"/>
              <a:t>Input Layer:</a:t>
            </a:r>
            <a:r>
              <a:rPr lang="en-IN" dirty="0"/>
              <a:t> 9 features</a:t>
            </a:r>
          </a:p>
          <a:p>
            <a:r>
              <a:rPr lang="en-IN" b="1" dirty="0"/>
              <a:t>Hidden Layer 1:</a:t>
            </a:r>
            <a:r>
              <a:rPr lang="en-IN" dirty="0"/>
              <a:t> 512 neurons, </a:t>
            </a:r>
            <a:r>
              <a:rPr lang="en-IN" dirty="0" err="1"/>
              <a:t>ReLU</a:t>
            </a:r>
            <a:endParaRPr lang="en-IN" dirty="0"/>
          </a:p>
          <a:p>
            <a:r>
              <a:rPr lang="en-IN" b="1" dirty="0"/>
              <a:t>Hidden Layer 2:</a:t>
            </a:r>
            <a:r>
              <a:rPr lang="en-IN" dirty="0"/>
              <a:t> 216 neurons, </a:t>
            </a:r>
            <a:r>
              <a:rPr lang="en-IN" dirty="0" err="1"/>
              <a:t>ReLU</a:t>
            </a:r>
            <a:endParaRPr lang="en-IN" dirty="0"/>
          </a:p>
          <a:p>
            <a:r>
              <a:rPr lang="en-IN" b="1" dirty="0"/>
              <a:t>Output Layer:</a:t>
            </a:r>
            <a:r>
              <a:rPr lang="en-IN" dirty="0"/>
              <a:t> 1 neuron (linear)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u="sng" dirty="0"/>
              <a:t>Training Details:</a:t>
            </a:r>
          </a:p>
          <a:p>
            <a:r>
              <a:rPr lang="en-IN" dirty="0"/>
              <a:t>Loss: </a:t>
            </a:r>
            <a:r>
              <a:rPr lang="en-IN" b="1" dirty="0"/>
              <a:t>Huber Loss</a:t>
            </a:r>
            <a:endParaRPr lang="en-IN" dirty="0"/>
          </a:p>
          <a:p>
            <a:r>
              <a:rPr lang="en-IN" dirty="0"/>
              <a:t>Optimizer: </a:t>
            </a:r>
            <a:r>
              <a:rPr lang="en-IN" b="1" dirty="0"/>
              <a:t>Adam</a:t>
            </a:r>
            <a:endParaRPr lang="en-IN" dirty="0"/>
          </a:p>
          <a:p>
            <a:r>
              <a:rPr lang="en-IN" dirty="0"/>
              <a:t>Batch Size: </a:t>
            </a:r>
            <a:r>
              <a:rPr lang="en-IN" b="1" dirty="0"/>
              <a:t>64</a:t>
            </a:r>
            <a:endParaRPr lang="en-IN" dirty="0"/>
          </a:p>
          <a:p>
            <a:r>
              <a:rPr lang="en-IN" dirty="0"/>
              <a:t>Epochs: </a:t>
            </a:r>
            <a:r>
              <a:rPr lang="en-IN" b="1" dirty="0"/>
              <a:t>10</a:t>
            </a:r>
            <a:endParaRPr lang="en-IN" dirty="0"/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78EDF0-809B-99FE-4F61-9780C2555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37060" y="1488614"/>
            <a:ext cx="4184034" cy="3880773"/>
          </a:xfrm>
        </p:spPr>
        <p:txBody>
          <a:bodyPr>
            <a:normAutofit/>
          </a:bodyPr>
          <a:lstStyle/>
          <a:p>
            <a:r>
              <a:rPr lang="en-US" b="1" dirty="0"/>
              <a:t>FIGURE 5: Model Training Loss vs Validation Loss Curve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26ABC7-905B-1FED-8BA7-94D915490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668" y="2109586"/>
            <a:ext cx="5676612" cy="4368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967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4A50A-9CD7-11EF-A2D2-DA6A57849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&amp;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9805A-3ECC-75D2-4AAF-FB60A568E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8313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Mean Absolute Error (MAE):</a:t>
            </a:r>
            <a:br>
              <a:rPr lang="en-US" dirty="0"/>
            </a:br>
            <a:r>
              <a:rPr lang="en-US" dirty="0"/>
              <a:t>➡️ </a:t>
            </a:r>
            <a:r>
              <a:rPr lang="en-US" b="1" dirty="0"/>
              <a:t>~14.35 runs</a:t>
            </a:r>
          </a:p>
          <a:p>
            <a:endParaRPr lang="en-US" dirty="0"/>
          </a:p>
          <a:p>
            <a:r>
              <a:rPr lang="en-US" dirty="0"/>
              <a:t>Good alignment with research benchmarks (10–15 runs)</a:t>
            </a:r>
          </a:p>
          <a:p>
            <a:endParaRPr lang="en-US" dirty="0"/>
          </a:p>
          <a:p>
            <a:r>
              <a:rPr lang="en-US" dirty="0"/>
              <a:t>Converged within first 5 epochs</a:t>
            </a:r>
          </a:p>
          <a:p>
            <a:endParaRPr lang="en-US" dirty="0"/>
          </a:p>
          <a:p>
            <a:r>
              <a:rPr lang="en-US" dirty="0"/>
              <a:t>Stable performance on test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9904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A887E-E70D-993A-53A0-2F9080D7B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Interactive Score Prediction Widget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54F43-41E0-8021-8A55-80B59C14F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4959321" cy="5057611"/>
          </a:xfrm>
        </p:spPr>
        <p:txBody>
          <a:bodyPr/>
          <a:lstStyle/>
          <a:p>
            <a:r>
              <a:rPr lang="en-US" dirty="0"/>
              <a:t>Built using </a:t>
            </a:r>
            <a:r>
              <a:rPr lang="en-US" b="1" dirty="0" err="1"/>
              <a:t>ipywidgets</a:t>
            </a:r>
            <a:r>
              <a:rPr lang="en-US" dirty="0"/>
              <a:t> for real-time scoring.</a:t>
            </a:r>
          </a:p>
          <a:p>
            <a:endParaRPr lang="en-US" dirty="0"/>
          </a:p>
          <a:p>
            <a:pPr lvl="0"/>
            <a:r>
              <a:rPr lang="en-US" b="1" u="sng" dirty="0"/>
              <a:t>Example prediction:</a:t>
            </a:r>
            <a:br>
              <a:rPr lang="en-US" b="1" u="sng" dirty="0"/>
            </a:br>
            <a:r>
              <a:rPr lang="en-US" dirty="0"/>
              <a:t>Total Runs Predicted is: </a:t>
            </a:r>
            <a:r>
              <a:rPr lang="en-US" b="1" dirty="0"/>
              <a:t>196</a:t>
            </a:r>
            <a:r>
              <a:rPr lang="en-US" dirty="0"/>
              <a:t> for the input scenario shown in below screenshot (Royal Challengers Bangalore vs Chennai Super Kings at M </a:t>
            </a:r>
            <a:r>
              <a:rPr lang="en-US" dirty="0" err="1"/>
              <a:t>Chinnaswamy</a:t>
            </a:r>
            <a:r>
              <a:rPr lang="en-US" dirty="0"/>
              <a:t> Stadium).</a:t>
            </a:r>
          </a:p>
          <a:p>
            <a:pPr lvl="0"/>
            <a:endParaRPr lang="en-IN" dirty="0"/>
          </a:p>
          <a:p>
            <a:r>
              <a:rPr lang="en-US" b="1" dirty="0"/>
              <a:t>FIGURE 6: Screenshot of Interactive Prediction Widget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B66825-B48A-B69B-B47E-48DAA841B3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6655" y="1478872"/>
            <a:ext cx="4211392" cy="47695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1677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44472-1657-63AB-7506-0CDE3E4B4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3A4C9-A56E-A381-92F4-148244BC3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u="sng" dirty="0"/>
              <a:t>Key Findings:</a:t>
            </a:r>
            <a:endParaRPr lang="en-IN" u="sng" dirty="0"/>
          </a:p>
          <a:p>
            <a:r>
              <a:rPr lang="en-IN" dirty="0"/>
              <a:t>Deep learning effectively models cricket scoring dynamics</a:t>
            </a:r>
          </a:p>
          <a:p>
            <a:r>
              <a:rPr lang="en-IN" dirty="0"/>
              <a:t>Label encoding + DNN + Huber Loss → strong accuracy</a:t>
            </a:r>
          </a:p>
          <a:p>
            <a:r>
              <a:rPr lang="en-IN" dirty="0"/>
              <a:t>MAE of ~14 runs is competitive with state-of-the-art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u="sng" dirty="0"/>
              <a:t>Future Work:</a:t>
            </a:r>
            <a:endParaRPr lang="en-IN" u="sng" dirty="0"/>
          </a:p>
          <a:p>
            <a:r>
              <a:rPr lang="en-IN" dirty="0"/>
              <a:t>LSTM/GRU to include sequence information</a:t>
            </a:r>
          </a:p>
          <a:p>
            <a:r>
              <a:rPr lang="en-IN" dirty="0"/>
              <a:t>Add contextual features: pitch, weather, player form</a:t>
            </a:r>
          </a:p>
          <a:p>
            <a:r>
              <a:rPr lang="en-IN" dirty="0"/>
              <a:t>Explainable AI (SHAP/LIME)</a:t>
            </a:r>
          </a:p>
          <a:p>
            <a:r>
              <a:rPr lang="en-IN" dirty="0"/>
              <a:t>Update dataset (2018–2024 IPL seasons)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5849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DF5E1-0BE1-5869-6803-069809C91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56" y="2575775"/>
            <a:ext cx="10656077" cy="3670478"/>
          </a:xfrm>
        </p:spPr>
        <p:txBody>
          <a:bodyPr>
            <a:normAutofit/>
          </a:bodyPr>
          <a:lstStyle/>
          <a:p>
            <a:pPr algn="ctr"/>
            <a:r>
              <a:rPr lang="en-US" sz="11500" b="1" i="1" dirty="0"/>
              <a:t>Thank You </a:t>
            </a:r>
            <a:endParaRPr lang="en-IN" sz="11500" b="1" i="1" dirty="0"/>
          </a:p>
        </p:txBody>
      </p:sp>
    </p:spTree>
    <p:extLst>
      <p:ext uri="{BB962C8B-B14F-4D97-AF65-F5344CB8AC3E}">
        <p14:creationId xmlns:p14="http://schemas.microsoft.com/office/powerpoint/2010/main" val="310695354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109</TotalTime>
  <Words>617</Words>
  <Application>Microsoft Office PowerPoint</Application>
  <PresentationFormat>Widescreen</PresentationFormat>
  <Paragraphs>112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Trebuchet MS</vt:lpstr>
      <vt:lpstr>Wingdings</vt:lpstr>
      <vt:lpstr>Wingdings 3</vt:lpstr>
      <vt:lpstr>Facet</vt:lpstr>
      <vt:lpstr>Cricket League Score Prediction  Final Project – Group 10</vt:lpstr>
      <vt:lpstr>Motivation</vt:lpstr>
      <vt:lpstr>Problem Statement</vt:lpstr>
      <vt:lpstr>Related Work Highlights</vt:lpstr>
      <vt:lpstr>Dataset Overview</vt:lpstr>
      <vt:lpstr>TABLE 1: Basic Dataset Statistics </vt:lpstr>
      <vt:lpstr>Data Preprocessing</vt:lpstr>
      <vt:lpstr>Exploratory Data Analysis (EDA)</vt:lpstr>
      <vt:lpstr>PowerPoint Presentation</vt:lpstr>
      <vt:lpstr>PowerPoint Presentation</vt:lpstr>
      <vt:lpstr>Feature Correlation</vt:lpstr>
      <vt:lpstr>Deep Neural Network Architecture</vt:lpstr>
      <vt:lpstr>Results &amp; Evaluation</vt:lpstr>
      <vt:lpstr>Interactive Score Prediction Widget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Karunakar Nuvvula</dc:creator>
  <cp:lastModifiedBy>Karunakar Nuvvula</cp:lastModifiedBy>
  <cp:revision>15</cp:revision>
  <dcterms:created xsi:type="dcterms:W3CDTF">2025-11-30T17:12:19Z</dcterms:created>
  <dcterms:modified xsi:type="dcterms:W3CDTF">2025-11-30T19:02:09Z</dcterms:modified>
</cp:coreProperties>
</file>